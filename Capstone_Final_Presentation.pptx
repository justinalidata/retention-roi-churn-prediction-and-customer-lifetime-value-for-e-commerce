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Predicting Churn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ADCFC"/>
                </a:solidFill>
              </a:rPr>
              <a:t>Customer Lifetime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A9BB0"/>
                </a:solidFill>
              </a:rPr>
              <a:t>in a Non-Contractual E-Commerce Setting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91840"/>
            <a:ext cx="10698480" cy="3657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0"/>
                </a:solidFill>
              </a:rPr>
              <a:t>Justin Ali  ·  Springboard Data Science Career Track  ·  Capstone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86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0"/>
                </a:solidFill>
              </a:rPr>
              <a:t>Dataset: UCI Online Retail II (2009–2011)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The Problem: Invisible Churn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47120" cy="3657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In non-contractual e-commerce, customers don't announce they're leaving.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300" b="0">
                <a:solidFill>
                  <a:srgbClr val="2C3E50"/>
                </a:solidFill>
              </a:rPr>
              <a:t>Without a model, the marketing team:</a:t>
            </a:r>
          </a:p>
          <a:p>
            <a:pPr algn="l"/>
            <a:r>
              <a:rPr sz="1300" b="0">
                <a:solidFill>
                  <a:srgbClr val="2C3E50"/>
                </a:solidFill>
              </a:rPr>
              <a:t>  •  Sends blanket offers to all inactive customers</a:t>
            </a:r>
          </a:p>
          <a:p>
            <a:pPr algn="l"/>
            <a:r>
              <a:rPr sz="1300" b="0">
                <a:solidFill>
                  <a:srgbClr val="2C3E50"/>
                </a:solidFill>
              </a:rPr>
              <a:t>  •  Wastes budget on customers who would have returned anyway</a:t>
            </a:r>
          </a:p>
          <a:p>
            <a:pPr algn="l"/>
            <a:r>
              <a:rPr sz="1300" b="0">
                <a:solidFill>
                  <a:srgbClr val="2C3E50"/>
                </a:solidFill>
              </a:rPr>
              <a:t>  •  Misses high-value customers genuinely at risk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300" b="1">
                <a:solidFill>
                  <a:srgbClr val="0D6E6E"/>
                </a:solidFill>
              </a:rPr>
              <a:t>This project answers:</a:t>
            </a:r>
          </a:p>
          <a:p>
            <a:pPr algn="l"/>
            <a:r>
              <a:rPr sz="1300" b="0">
                <a:solidFill>
                  <a:srgbClr val="2C3E50"/>
                </a:solidFill>
              </a:rPr>
              <a:t>  1.  Who is about to churn?</a:t>
            </a:r>
          </a:p>
          <a:p>
            <a:pPr algn="l"/>
            <a:r>
              <a:rPr sz="1300" b="0">
                <a:solidFill>
                  <a:srgbClr val="2C3E50"/>
                </a:solidFill>
              </a:rPr>
              <a:t>  2.  Which churners are worth retaining?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097280"/>
            <a:ext cx="512064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0972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Transaction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2103120"/>
            <a:ext cx="45720" cy="594360"/>
          </a:xfrm>
          <a:prstGeom prst="rect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0" y="2606040"/>
            <a:ext cx="5120640" cy="100584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6060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Churn Score  +  CLV Forecast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3611880"/>
            <a:ext cx="45720" cy="594360"/>
          </a:xfrm>
          <a:prstGeom prst="rect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0" y="4023360"/>
            <a:ext cx="5120640" cy="100584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Ranked Retention Action 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Data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47120" cy="3657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377440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~700K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cleaned transactions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188720"/>
            <a:ext cx="2377440" cy="12801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1280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~5,800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unique customers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88720"/>
            <a:ext cx="2377440" cy="128016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80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engineered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2377440" cy="1280160"/>
          </a:xfrm>
          <a:prstGeom prst="rect">
            <a:avLst/>
          </a:prstGeom>
          <a:solidFill>
            <a:srgbClr val="2C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280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90-day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prediction window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88920"/>
            <a:ext cx="11247120" cy="3657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926080"/>
            <a:ext cx="352044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9718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Calibration Period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564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</a:rPr>
              <a:t>Dec 2009 – Jan 2011
(feature engineering)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926080"/>
            <a:ext cx="3520440" cy="13716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43400" y="29718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Holdout (Labels)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4564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</a:rPr>
              <a:t>Feb – Aug 2011
(target derivation)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2926080"/>
            <a:ext cx="3520440" cy="1371600"/>
          </a:xfrm>
          <a:prstGeom prst="rect">
            <a:avLst/>
          </a:prstGeom>
          <a:solidFill>
            <a:srgbClr val="2C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29718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 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4564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</a:rPr>
              <a:t>Aug – Dec 2011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2C3E50"/>
                </a:solidFill>
              </a:rPr>
              <a:t>Feature groups: RFM + Tenure  ·  Behavioral Diversity  ·  Temporal Patterns  ·  Price &amp; Geography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37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</a:rPr>
              <a:t>Stratified 80/20 split  ·  PR-AUC primary metric  ·  class_weight=balanced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EDA: 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47120" cy="3657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303520" cy="23774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64592" cy="2377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Recency dominates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Churn probability exceeds 40% when a customer hasn't purchased in 90+ days. The signal is strong, monotonic, and directly actionable.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97280"/>
            <a:ext cx="5303520" cy="23774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097280"/>
            <a:ext cx="164592" cy="237744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6E6E"/>
                </a:solidFill>
              </a:rPr>
              <a:t>Drift detectable early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755648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last_vs_avg_gap_ratio &gt; 1 flags customers buying less often than their own norm — 2-4 weeks before standard recency alarms fire.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91840"/>
            <a:ext cx="5303520" cy="23774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164592" cy="237744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01A"/>
                </a:solidFill>
              </a:rPr>
              <a:t>Class imbalance 2:1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50208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Only 33% of customers repurchased in 90 days. Accuracy is a misleading metric here — PR-AUC correctly captures performance on the minority class.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291840"/>
            <a:ext cx="5303520" cy="23774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3291840"/>
            <a:ext cx="164592" cy="2377440"/>
          </a:xfrm>
          <a:prstGeom prst="rect">
            <a:avLst/>
          </a:prstGeom>
          <a:solidFill>
            <a:srgbClr val="2C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3474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6B7A"/>
                </a:solidFill>
              </a:rPr>
              <a:t>Linear signals dominate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950208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Spearman correlations are strong and monotonic for the top features. This explains why Logistic Regression outperformed gradient boosting on this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Model Comparison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47120" cy="3657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6217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4114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024128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PR-AUC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024128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024128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Brier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102412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Lift vs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11247120" cy="6400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627632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Logistic Regression 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62763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6E6E"/>
                </a:solidFill>
              </a:rPr>
              <a:t>0.7151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27632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6E6E"/>
                </a:solidFill>
              </a:rPr>
              <a:t>0.8032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62763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6E6E"/>
                </a:solidFill>
              </a:rPr>
              <a:t>0.1755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162763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6E6E"/>
                </a:solidFill>
              </a:rPr>
              <a:t>+114.1%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XGBoost (tuned)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2860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0.7056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2860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0.7970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2860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0.1742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286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+111.2%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44368"/>
            <a:ext cx="11247120" cy="6400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2944368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Random Forest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944368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0.7044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944368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0.7938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944368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0.1690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9443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+110.8%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02736"/>
            <a:ext cx="11247120" cy="640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3602736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Naive 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602736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0.3341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602736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0.5000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602736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602736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572000"/>
            <a:ext cx="11247120" cy="8229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4645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</a:rPr>
              <a:t>Key finding: </a:t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>Logistic Regression won — small dataset (~4,600 train rows) + log1p preprocessing linearized the dominant RFM signals, reducing tree models' advantage.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Top Predictive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47120" cy="3657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6939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42560" y="1097280"/>
            <a:ext cx="6095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recency_days  (28%)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67988"/>
            <a:ext cx="36880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36720" y="1867988"/>
            <a:ext cx="161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frequency  (22%)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38697"/>
            <a:ext cx="3185160" cy="50292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33800" y="2638697"/>
            <a:ext cx="21183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6E6E"/>
                </a:solidFill>
              </a:rPr>
              <a:t>last_vs_avg_gap_ratio  (19%)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09405"/>
            <a:ext cx="2514600" cy="50292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63240" y="3409405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6E6E"/>
                </a:solidFill>
              </a:rPr>
              <a:t>interpurchase_time_mean  (15%)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80114"/>
            <a:ext cx="1508760" cy="502920"/>
          </a:xfrm>
          <a:prstGeom prst="rect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57400" y="4180114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0"/>
                </a:solidFill>
              </a:rPr>
              <a:t>tenure_days  (9%)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50822"/>
            <a:ext cx="1341120" cy="502920"/>
          </a:xfrm>
          <a:prstGeom prst="rect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89759" y="4950822"/>
            <a:ext cx="3962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0"/>
                </a:solidFill>
              </a:rPr>
              <a:t>monetary_total  (8%)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721531"/>
            <a:ext cx="1005840" cy="502920"/>
          </a:xfrm>
          <a:prstGeom prst="rect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54480" y="5721531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0"/>
                </a:solidFill>
              </a:rPr>
              <a:t>last_gap_days  (6%)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051560"/>
            <a:ext cx="5486400" cy="1143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1051560"/>
            <a:ext cx="128016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recency_days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5087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Days since last purchase — single strongest predictor.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377439"/>
            <a:ext cx="5486400" cy="1143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2377439"/>
            <a:ext cx="128016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24688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frequency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834639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Total purchase count. Repeat buyers consistently return.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703320"/>
            <a:ext cx="5486400" cy="1143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3703320"/>
            <a:ext cx="128016" cy="11430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379475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6E6E"/>
                </a:solidFill>
              </a:rPr>
              <a:t>last_vs_avg_gap_ratio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1605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Drift signal: recent gap vs. customer's own baseline.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5029200"/>
            <a:ext cx="5486400" cy="1143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5029200"/>
            <a:ext cx="128016" cy="11430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5120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6E6E"/>
                </a:solidFill>
              </a:rPr>
              <a:t>interpurchase_time_mean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4864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Average days between orders — long gaps predict churn.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Customer Churn Risk by Recency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47120" cy="3657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5340096"/>
            <a:ext cx="1143000" cy="329184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928616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6E6E"/>
                </a:solidFill>
              </a:rPr>
              <a:t>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0–30 days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4764024"/>
            <a:ext cx="1143000" cy="905256"/>
          </a:xfrm>
          <a:prstGeom prst="rect">
            <a:avLst/>
          </a:prstGeom>
          <a:solidFill>
            <a:srgbClr val="2C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74519" y="4352544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6B7A"/>
                </a:solidFill>
              </a:rPr>
              <a:t>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7150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31–90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3982212"/>
            <a:ext cx="1143000" cy="1687068"/>
          </a:xfrm>
          <a:prstGeom prst="rect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3570732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9BB0"/>
                </a:solidFill>
              </a:rPr>
              <a:t>41%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7150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91–180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3118104"/>
            <a:ext cx="1143000" cy="2551176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2706624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05A3A"/>
                </a:solidFill>
              </a:rPr>
              <a:t>62%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57150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181–270 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336291"/>
            <a:ext cx="1143000" cy="333298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1924811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501A"/>
                </a:solidFill>
              </a:rPr>
              <a:t>81%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71500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271–365 days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1005840"/>
            <a:ext cx="4297680" cy="2834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6679" y="1097280"/>
            <a:ext cx="4069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</a:rPr>
              <a:t>Intervention window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>Churn risk crosses 40% at 90 days. This is the optimal trigger point for automated retention outreach — before customers enter the high-risk zone.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977639"/>
            <a:ext cx="429768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79" y="4069080"/>
            <a:ext cx="4069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</a:rPr>
              <a:t>Action: </a:t>
            </a:r>
          </a:p>
          <a:p>
            <a:pPr algn="l"/>
            <a:r>
              <a:rPr sz="1000" b="0">
                <a:solidFill>
                  <a:srgbClr val="CADCFC"/>
                </a:solidFill>
              </a:rPr>
              <a:t>Flag customers when recency_days &gt; 90 AND last_vs_avg_gap_ratio &gt; 1.2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Retention Strategy: 2x2 CLV x Churn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47120" cy="3657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25146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NURTURE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High CLV · Low Churn  (~28%)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Loyal, valuable. Low-cost engagement: personalized emails, early product access.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05840"/>
            <a:ext cx="5486400" cy="251460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430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PRIORITY RETENTION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642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High CLV · High Churn  (~22%)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Act now. Premium vouchers, personal outreach. Highest ROI of any segment.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5486400" cy="2514600"/>
          </a:xfrm>
          <a:prstGeom prst="rect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MAINTAIN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159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Low CLV · Low Churn  (~31%)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Stable but small. Standard email programme only. No incremental spend.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657600"/>
            <a:ext cx="5486400" cy="251460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37947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LET LAPSE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3159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Low CLV · High Churn  (~19%)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70916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Retention cost exceeds expected revenue. Reallocate budget elsewhere.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A9BB0"/>
                </a:solidFill>
              </a:rPr>
              <a:t>← LOW CLV    |    HIGH CLV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Three Actionable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47120" cy="36576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22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051560"/>
            <a:ext cx="10424160" cy="1463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114300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Trigger at 90-day recency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45919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Automate a retention campaign when recency_days &gt; 90. Personalize by price tier and top product category. Intercept ~60% of eventual churners before full disengagement.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822960" cy="146304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822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743200"/>
            <a:ext cx="10424160" cy="1463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08760" y="283464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6E6E"/>
                </a:solidFill>
              </a:rPr>
              <a:t>Focus premium spend on High CLV × High Churn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33756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Rank customers by churn_prob × expected_CLV. Reserve high-cost offers ($10-20 vouchers, personal outreach) for the top quadrant only. Expected net ROI: 3-5x vs. blanket campaigns.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34840"/>
            <a:ext cx="822960" cy="146304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822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4434840"/>
            <a:ext cx="10424160" cy="1463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79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01A"/>
                </a:solidFill>
              </a:rPr>
              <a:t>Monitor drift via last_vs_avg_gap_ratio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2920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Flag customers whose ratio increases by &gt;0.5 in 30 days. Deploy an early warning 2-4 weeks before recency-based triggers — when win-back costs are lowest.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Next Steps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64240" cy="411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  1.  BG/NBD + Gamma-Gamma CLV model — probabilistic lifetime value for every 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  2.  SHAP explainability — individual prediction explanations for the marketing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  3.  Calibration via isotonic regression — better probability estimates for CLV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  4.  Streamlit dashboard — churn score + SHAP waterfall + ROI sensitivity calculator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515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501A"/>
                </a:solidFill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  •  No A/B test — ROI estimates are projections, not measured causal lift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  •  Single calibration window — model needs quarterly retraining in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611879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  •  Retrospective UK retailer dataset — results may not generalize to all categories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303520"/>
            <a:ext cx="11064240" cy="118872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53949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</a:rPr>
              <a:t>Justin Ali  ·  justin.ali.data@gmail.com  ·  Springboard DS Career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934</Words>
  <Application>Microsoft Office PowerPoint</Application>
  <PresentationFormat>Custom</PresentationFormat>
  <Paragraphs>141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Justin Ali</dc:creator>
  <cp:keywords/>
  <dc:description>generated using python-pptx</dc:description>
  <cp:lastModifiedBy>Justin Ali</cp:lastModifiedBy>
  <cp:revision>1</cp:revision>
  <dcterms:created xsi:type="dcterms:W3CDTF">2013-01-27T09:14:16Z</dcterms:created>
  <dcterms:modified xsi:type="dcterms:W3CDTF">2026-05-19T11:52:16Z</dcterms:modified>
  <cp:category/>
</cp:coreProperties>
</file>